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9" r:id="rId16"/>
    <p:sldId id="275" r:id="rId17"/>
    <p:sldId id="276" r:id="rId18"/>
    <p:sldId id="282" r:id="rId19"/>
    <p:sldId id="283" r:id="rId20"/>
    <p:sldId id="277" r:id="rId21"/>
    <p:sldId id="280" r:id="rId22"/>
    <p:sldId id="281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stone" id="{12AE6D30-E291-4A5E-B10B-54806BD283D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72"/>
            <p14:sldId id="274"/>
            <p14:sldId id="279"/>
            <p14:sldId id="275"/>
            <p14:sldId id="276"/>
            <p14:sldId id="282"/>
            <p14:sldId id="283"/>
            <p14:sldId id="277"/>
            <p14:sldId id="280"/>
            <p14:sldId id="281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3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5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15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21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60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46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55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08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60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8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67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BB075-6B4F-46F5-8B4C-14D42DD3B1BF}" type="datetimeFigureOut">
              <a:rPr lang="en-IN" smtClean="0"/>
              <a:t>19-09-2021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A60A8B0-2690-4C37-9B97-D04E1AAC88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52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F162-ACF5-4880-8026-2C22F64A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CREDIT CARD FRAUD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7B062-55F5-4FE3-9167-A29DB9BF2663}"/>
              </a:ext>
            </a:extLst>
          </p:cNvPr>
          <p:cNvSpPr txBox="1"/>
          <p:nvPr/>
        </p:nvSpPr>
        <p:spPr>
          <a:xfrm>
            <a:off x="1137146" y="3213345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Team Members</a:t>
            </a:r>
          </a:p>
          <a:p>
            <a:endParaRPr lang="en-US" b="1" u="sng" dirty="0"/>
          </a:p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Dhanesh K</a:t>
            </a:r>
          </a:p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Manoj Kumaran R</a:t>
            </a:r>
          </a:p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Sudveep Kumar Reddy</a:t>
            </a:r>
          </a:p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Anirudh Ramachandra</a:t>
            </a:r>
          </a:p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Nagaraju Arveti</a:t>
            </a:r>
          </a:p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Venkatramana 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449DBE-CB05-4E18-B11F-7E0D732EF614}"/>
              </a:ext>
            </a:extLst>
          </p:cNvPr>
          <p:cNvSpPr txBox="1">
            <a:spLocks/>
          </p:cNvSpPr>
          <p:nvPr/>
        </p:nvSpPr>
        <p:spPr>
          <a:xfrm>
            <a:off x="7930654" y="3231491"/>
            <a:ext cx="3124200" cy="719796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Mentor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IN" b="0" i="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Ms. Anjana Agrawal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5EB54-59E1-440D-8CDC-C410E8646530}"/>
              </a:ext>
            </a:extLst>
          </p:cNvPr>
          <p:cNvSpPr txBox="1"/>
          <p:nvPr/>
        </p:nvSpPr>
        <p:spPr>
          <a:xfrm>
            <a:off x="1451579" y="2011680"/>
            <a:ext cx="9603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INTERIM PRESENTATION</a:t>
            </a:r>
            <a:endParaRPr lang="en-IN" sz="3200" u="heav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17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BA54-7753-4B58-98B7-A11E82D0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understanding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75BB-8601-444A-AABB-BDFB09953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As online transactions increased over a period of time online fraud also subsequently increased.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Although the proportion of fraud to nonfraud transactions is very low the chances of online fraud to grow is increasing gradually. </a:t>
            </a:r>
            <a:endParaRPr lang="en-US" sz="18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The goal is to identify and reduce the online fraud transactions without disturbing the flow of legal transactions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n-US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By reducing the number of frauds, this will increase the trust of the customers in approaching the bank for the future.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95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7234-2B32-4876-8027-0E01F6C6D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06045"/>
            <a:ext cx="9603275" cy="1049235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F8F1B-023F-4335-9111-FFA39B571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7258"/>
            <a:ext cx="9603275" cy="345061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Credit  card  frauds  are increasing  heavily  because  of  fraud financial loss is increasing drastically.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has been a growing amount of financial losses due to credit card frauds as the usage of the credit cards become more and more common.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the fraud detection problem, although the typical prediction modeling performance measures are quite relevant, as indicated by the bank authority, a performance criterion, measuring the loss that can be saved on the cards whose transactions are identified as fraud is more prominent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a result, what we are facing is a classification problem with variable misclassification costs.</a:t>
            </a:r>
          </a:p>
        </p:txBody>
      </p:sp>
    </p:spTree>
    <p:extLst>
      <p:ext uri="{BB962C8B-B14F-4D97-AF65-F5344CB8AC3E}">
        <p14:creationId xmlns:p14="http://schemas.microsoft.com/office/powerpoint/2010/main" val="139145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A0AA-5A5B-4749-889B-BEDD3797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BC75F-3C93-42DC-A23F-6C7DFED70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The dataset contains 284807 number of rows and 31 number of columns.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There is no categorical columns present in the dataset as it contains only numerical columns.</a:t>
            </a:r>
          </a:p>
          <a:p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columns are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'Time', 'V1', 'V2', 'V3', 'V4', 'V5', 'V6', 'V7', 'V8', 'V9', 'V10', 'V11', 'V12', 'V13', 'V14', 'V15', 'V16', 'V17', 'V18', 'V19', 'V20', 'V21', 'V22', 'V23', 'V24', 'V25', 'V26', 'V27', 'V28', 'Amount', 'Class‘.</a:t>
            </a:r>
            <a:endParaRPr lang="en-US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60CC0-34BF-46B6-8BAE-A36581BC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307" y="4424380"/>
            <a:ext cx="8385386" cy="162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4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A7C8-524B-4368-9CEB-4DEC62F9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pca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52A9-799E-4AB8-95AD-74FA8E70C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columns V1 to V28 is a result of PCA.</a:t>
            </a:r>
          </a:p>
          <a:p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columns may actually contain personal details of the customer which the bank doesn’t want to reveal.</a:t>
            </a:r>
          </a:p>
          <a:p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the bank used a Principal Component Analysis on the data to protect its customers’ details.</a:t>
            </a:r>
          </a:p>
          <a:p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a result of the PCA multicollinearity is reduced.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7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5794-99CB-43BE-A923-3A68170A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further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ADA2-B15A-4E83-A099-287666E85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preparation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Imbalance process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EDA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Scaling the data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 variables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Building</a:t>
            </a:r>
          </a:p>
          <a:p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48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2C89-5CE7-48FB-AC3D-DC4DA371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507FE-F4D1-4197-A39C-73CD85776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no missing values present in the data.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there is no categorical feature present in the data.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outlier treatment, </a:t>
            </a:r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cannot be performed because the PCA values are mostly zero’s and negative so the identification of real outliers is not possible.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using the box plot, it shows the extreme values and if we use the IQR capping method we will have a huge loss of data and hence no transformation technique was used.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Transformation techniques like log, square-root, exponential, Box-Cox won't work because   of the values that are very close to zero and negative values as well.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So, it’s better not to use the outlier treatment for this data.</a:t>
            </a:r>
          </a:p>
          <a:p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35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BD682-F162-4D01-A0BB-38246006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imbalance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0EC0-93C4-4DF6-9911-C266C03A0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data is highly imbalanced, as number of 0's(not fraud) is 99.7% whereas for 1(fraud) it is 0.352%.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Since the value of 1's is too small it is better to go with oversampling.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the SMOTE technique is used for the oversampling process.</a:t>
            </a:r>
          </a:p>
          <a:p>
            <a:pPr marL="0" indent="0">
              <a:buNone/>
            </a:pPr>
            <a:endParaRPr lang="en-IN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BA5E3-AE74-4E31-B43E-FF3F07E4DC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3"/>
          <a:stretch/>
        </p:blipFill>
        <p:spPr>
          <a:xfrm>
            <a:off x="1612381" y="3741038"/>
            <a:ext cx="8967238" cy="15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3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C59D-B018-4A02-BC39-309B9532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Univariate  analysis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D6E81C6-C078-433B-9244-3E947AACD9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203" y="2063022"/>
            <a:ext cx="5574615" cy="219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14F1A0-B7A4-4BE2-AD9F-56DB856D293F}"/>
              </a:ext>
            </a:extLst>
          </p:cNvPr>
          <p:cNvSpPr txBox="1"/>
          <p:nvPr/>
        </p:nvSpPr>
        <p:spPr>
          <a:xfrm>
            <a:off x="1451579" y="4464554"/>
            <a:ext cx="9603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box plot, we could see that the V1 column has a lot of extreme values.</a:t>
            </a:r>
          </a:p>
          <a:p>
            <a:pPr>
              <a:buClr>
                <a:schemeClr val="accent1"/>
              </a:buClr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distribution plot, it shows that the V1 column is left skewed. 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34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CA26-18CE-4224-A2B8-E733283B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univariate  analysis</a:t>
            </a:r>
            <a:br>
              <a:rPr lang="en-US" dirty="0"/>
            </a:b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99DA3D7-4045-45EB-A5D6-F4018D3FE4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183" y="2140674"/>
            <a:ext cx="6041633" cy="237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11D058-BD6B-414B-966D-EA1909E34E8A}"/>
              </a:ext>
            </a:extLst>
          </p:cNvPr>
          <p:cNvSpPr txBox="1"/>
          <p:nvPr/>
        </p:nvSpPr>
        <p:spPr>
          <a:xfrm>
            <a:off x="1451578" y="4642338"/>
            <a:ext cx="9603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box plot, it shows that the column V24 is left skewed.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distribution plot, we can infer that the distribution of column V24 is not normal.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37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8F19-697C-42DE-9644-CD1D8EED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univariate  analysis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26C0C6B-8899-4A97-B0FD-8A05DF4692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406" y="2168135"/>
            <a:ext cx="6109188" cy="240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1E1152-B1ED-4213-BD13-BD4090EDEB1B}"/>
              </a:ext>
            </a:extLst>
          </p:cNvPr>
          <p:cNvSpPr txBox="1"/>
          <p:nvPr/>
        </p:nvSpPr>
        <p:spPr>
          <a:xfrm>
            <a:off x="1451579" y="4825217"/>
            <a:ext cx="8803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box plot, it shows that the column V26 is rightly skewed.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distribution plot, it shows that the V26 column is not normally distributed.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25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A327-01E1-4C40-BF7F-4E226592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univariate 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F81B-5916-41A2-93F4-D7F358E21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 the above plots, there are many other columns which are normally distributed but skewed.</a:t>
            </a:r>
          </a:p>
          <a:p>
            <a:pPr marL="0" indent="0">
              <a:buNone/>
            </a:pPr>
            <a:endParaRPr lang="en-IN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7230100-2F01-4417-9632-7B4767AF2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24142"/>
              </p:ext>
            </p:extLst>
          </p:nvPr>
        </p:nvGraphicFramePr>
        <p:xfrm>
          <a:off x="3587263" y="2700995"/>
          <a:ext cx="5683346" cy="29273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5566">
                  <a:extLst>
                    <a:ext uri="{9D8B030D-6E8A-4147-A177-3AD203B41FA5}">
                      <a16:colId xmlns:a16="http://schemas.microsoft.com/office/drawing/2014/main" val="855936841"/>
                    </a:ext>
                  </a:extLst>
                </a:gridCol>
                <a:gridCol w="3517780">
                  <a:extLst>
                    <a:ext uri="{9D8B030D-6E8A-4147-A177-3AD203B41FA5}">
                      <a16:colId xmlns:a16="http://schemas.microsoft.com/office/drawing/2014/main" val="1167289200"/>
                    </a:ext>
                  </a:extLst>
                </a:gridCol>
              </a:tblGrid>
              <a:tr h="4878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COLUMNS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34264"/>
                  </a:ext>
                </a:extLst>
              </a:tr>
              <a:tr h="4878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Left skewed (normal)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25363"/>
                  </a:ext>
                </a:extLst>
              </a:tr>
              <a:tr h="4878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Right skewed (normal)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099816"/>
                  </a:ext>
                </a:extLst>
              </a:tr>
              <a:tr h="4878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skewed (normal)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00694"/>
                  </a:ext>
                </a:extLst>
              </a:tr>
              <a:tr h="4878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skewed (normal)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574903"/>
                  </a:ext>
                </a:extLst>
              </a:tr>
              <a:tr h="4878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Right skewed (normal)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54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896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5A60-3597-43E4-8134-3650877F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bivariate  analysis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D04FCAB-3837-4DC7-B5FD-096CC4FDF3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666" y="1853754"/>
            <a:ext cx="6560668" cy="258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50B98B-DA3E-4782-8CDB-A2F7E2184577}"/>
              </a:ext>
            </a:extLst>
          </p:cNvPr>
          <p:cNvSpPr txBox="1"/>
          <p:nvPr/>
        </p:nvSpPr>
        <p:spPr>
          <a:xfrm>
            <a:off x="1170225" y="4543863"/>
            <a:ext cx="9603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above graphs it is clear that non - fraud transactions seem to be normally distributed whereas fraud transactions are not normally distributed.</a:t>
            </a:r>
          </a:p>
          <a:p>
            <a:pPr>
              <a:buClr>
                <a:schemeClr val="accent1"/>
              </a:buClr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the fraud actions can be seen as high  around 45000 and 90000 seconds respectively after the first transaction.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898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646D-A19B-4CE4-9251-82C49516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bivariate  analysis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691" y="1948869"/>
            <a:ext cx="3055620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4" descr="data:image/png;base64,iVBORw0KGgoAAAANSUhEUgAAAYsAAAEGCAYAAACUzrmNAAAAOXRFWHRTb2Z0d2FyZQBNYXRwbG90bGliIHZlcnNpb24zLjQuMywgaHR0cHM6Ly9tYXRwbG90bGliLm9yZy/MnkTPAAAACXBIWXMAAAsTAAALEwEAmpwYAAAc10lEQVR4nO3df5DcdZ3n8edrZgQBfyQMY8QkbNhKdAvkRHYusCvqKpMwqBBuz7Vg70yXBzVeHRrFqzvxyqp4ildatbcsya4sWUAmWysYfyDjHjU4iQa9qgOZIJsQ0EqLE8kYkqETYAUBJ/O+P/rToROmpydkvv2dnn49qrrm+/l8P93f94RhXvP9+VFEYGZmNpW2vAswM7PZz2FhZmZ1OSzMzKwuh4WZmdXlsDAzs7o68i4gC6eddlosWbIk7zLMzJrKtm3bnoqIrsnWzcmwWLJkCcPDw3mXYWbWVCTtrrXOh6HMzKwuh4WZmdWVaVhIulbSTkmPSLpD0mslnSnpAUlFSd+UdEIae2JqF9P6JVWf87nU/wtJF2dZs5mZvVJmYSFpIbAG6I6ItwPtwBXAV4EbImIpcBC4Kr3lKuBg6r8hjUPSWel9ZwO9wNcktWdVt5mZvVLWh6E6gJMkdQAnA3uB9wPfTuv7gcvT8qrUJq2/SJJS/50R8WJE/AooAsszrtuSUqnEmjVrKJVKeZdiZjnKLCwiYhT4K+DXlEPiGWAb8HREjKdhe4CFaXkh8ER673ga31ndP8l7DpPUJ2lY0vDY2NjMf0Mtqr+/nx07drBx48a8SzGzHGV5GGo+5b2CM4G3AKdQPoyUiYjYEBHdEdHd1TXpZcJ2jEqlEoODg0QEg4OD3rswa2FZHobqAX4VEWMR8Xvgu8C7gHnpsBTAImA0LY8CiwHS+jcCper+Sd5jGerv72diYgKAQ4cOee/CrIVlGRa/Bi6QdHI693AR8CjwI+DDaUwBuDstD6Q2af0PozzZxgBwRbpa6kxgGfDTDOu2ZPPmzYyPl48Yjo+PMzQ0lHNFZpaXLM9ZPED5RPVDwI60rQ3AZ4HPSCpSPidxa3rLrUBn6v8McF36nJ3AJspBMwhcExGHsqrbXtbT00M550ESK1asyLkiM8uL5uJMed3d3eHHfRy/YrHI1Vdffbh9yy23sHTp0hwrMrMsSdoWEd2TrfMd3FbTwMDAEXsW3//+93OuyMzy4rCwmjZv3kxlzzMifM7CrIU5LKymnp4eOjrKF651dHT4nIVZC3NYWE2FQoG2tvKPSHt7O6tXr865IjPLi8PCaurs7KS3txdJ9Pb20tnZmXdJZpYTh4VN6bLLLuPkk0/m0ksvzbsUM8uRw8KmNDAwwPPPP+8rocxanMPCavKzocyswmFhNfnZUGZW4bCwmvxsKDOrcFhYTb7PwswqHBZWk++zMLMKh4XV5PsszKyio/4Qa2WFQoGRkRHvVZi1OIeFTamzs5N169blXYaZ5cyHoczMrK7MwkLS2yQ9XPV6VtKnJZ0qaUjSrvR1fhovSeskFSVtl3Re1WcV0vhdkgq1t2pmZlnIclrVX0TEuRFxLvDHwPPAXZSnS90SEcuALakNcAnl+bWXAX3ATQCSTgXWAucDy4G1lYAxM7PGaNRhqIuAX0bEbmAV0J/6+4HL0/IqYGOU3Q/Mk3Q6cDEwFBEHIuIgMAT0NqhuMzOjcWFxBXBHWl4QEXvT8pPAgrS8EHii6j17Ul+t/iNI6pM0LGl4bGxsJms3M2t5mYeFpBOAy4BvHb0uynN2xkxsJyI2RER3RHR3dXXNxEeamVnSiD2LS4CHImJfau9Lh5dIX/en/lFgcdX7FqW+Wv1mZtYgjQiLK3n5EBTAAFC5oqkA3F3VvzpdFXUB8Ew6XHUvsFLS/HRie2XqMzOzBsn0pjxJpwArgI9XdX8F2CTpKmA38JHUfw/wAaBI+cqpjwFExAFJXwIeTOO+GBEHsqzbzMyOpPJpg7mlu7s7hoeH8y7DzKypSNoWEd2TrfMd3GZmVpfDwszM6nJYmJlZXQ4LMzOry2FhZmZ1OSzMzKwuh4WZmdXlsDAzs7ocFmZmVpfDwszM6nJYmJlZXQ4LMzOry2FhUyqVSqxZs4ZSqZR3KWaWI4eFTam/v58dO3awcePGvEsxsxw5LKymUqnE4OAgEcHg4KD3LsxamMPCaurv72diYgKAQ4cOee/CrIVlGhaS5kn6tqSfS3pM0p9IOlXSkKRd6ev8NFaS1kkqStou6byqzymk8bskFWpv0WbS5s2bGR8fB2B8fJyhoaGcKzKzvGS9Z3EjMBgRfwS8A3gMuA7YEhHLgC2pDXAJsCy9+oCbACSdCqwFzgeWA2srAWPZ6unpoaOjPPNuR0cHK1asyLkiM8tLZmEh6Y3Ae4BbASLipYh4GlgF9Kdh/cDlaXkVsDHK7gfmSToduBgYiogDEXEQGAJ6s6rbXlYoFGhrK/+ItLe3s3r16pwrMrO8ZLlncSYwBnxd0s8k3SLpFGBBROxNY54EFqTlhcATVe/fk/pq9R9BUp+kYUnDY2NjM/yttKbOzk56e3uRRG9vL52dnXmXZGY5yTIsOoDzgJsi4p3Ac7x8yAmAiAggZmJjEbEhIrojorurq2smPtIo712cc8453qswa3FZhsUeYE9EPJDa36YcHvvS4SXS1/1p/SiwuOr9i1JfrX5rgM7OTtatW+e9CrMWl1lYRMSTwBOS3pa6LgIeBQaAyhVNBeDutDwArE5XRV0APJMOV90LrJQ0P53YXpn6zMysQToy/vxPAv8k6QTgceBjlANqk6SrgN3AR9LYe4APAEXg+TSWiDgg6UvAg2ncFyPiQMZ1m5lZFZVPG8wt3d3dMTw8nHcZZmZNRdK2iOiebJ3v4DYzs7ocFmZmVpfDwszM6nJYmJlZXQ4LMzOry2FhZmZ1OSzMzKwuh4WZmdXlsDAzs7ocFjalUqnEmjVrPP+2WYtzWNiU+vv72bFjh+ffNmtxDgurqVQqMTg4SEQwODjovQuzFuawsJr6+/uZmJgA4NChQ967MGthDgurafPmzYyPjwMwPj7O0NBQzhWZWV4cFlZTT08PHR3lKU86OjpYsWJFzhWZWV4cFlZToVCgra38I9Le3u55uM1aWKZhIWlE0g5JD0saTn2nShqStCt9nZ/6JWmdpKKk7ZLOq/qcQhq/S1Kh1vZsZnV2dtLb24skent7PQ+3WQtrxJ7F+yLi3KrZl64DtkTEMmBLagNcAixLrz7gJiiHC7AWOB9YDqytBIxlr1AocM4553ivwqzF5XEYahXQn5b7gcur+jdG2f3APEmnAxcDQxFxICIOAkNAb4NrNjNraVmHRQA/kLRNUl/qWxARe9Pyk8CCtLwQeKLqvXtSX63+I0jqkzQsaXhsbGwmv4eW5pvyzAyyD4sLI+I8yoeYrpH0nuqVERGUA+W4RcSGiOiOiO6urq6Z+MiW55vyzKwi07CIiNH0dT9wF+VzDvvS4SXS1/1p+CiwuOrti1JfrX7LmG/KM7OKzMJC0imSXl9ZBlYCjwADQOWKpgJwd1oeAFanq6IuAJ5Jh6vuBVZKmp9ObK9MfZYx35RnZhUdGX72AuAuSZXtfCMiBiU9CGySdBWwG/hIGn8P8AGgCDwPfAwgIg5I+hLwYBr3xYg4kGHdlvT09HDPPfcwPj7um/LMWpzKpw3mlu7u7hgeHs67jKZXKpW48soreemllzjxxBP5xje+4XstzOYwSduqbnM4gu/gtpp8U56ZVWR5GMrmgEKhwMjIiG/KM2txDgubUmdnJ+vWrcu7DDPLmQ9DmZlZXXXDQtKW6fSZmdncVfMwlKTXAicDp6X7G5RWvYFJHrdhZmZz11TnLD4OfBp4C7CNl8PiWeBvsy3LzMxmk5phERE3AjdK+mRErG9gTWZmNsvUPWcREesl/amkv5S0uvJqRHGWv2KxyAc/+EGKxWLepZhZjqZzgvsfgb8CLgT+bXpNeoefzT3XX389zz33HNdff33epZhZjqZzn0U3cFbMxeeC2JSKxSIjIyMAjIyMUCwWWbp0ab5FmVkupnOfxSPAm7MuxGafo/cmvHdh1rqms2dxGvCopJ8CL1Y6I+KyzKqyWaGyV1GrbWatYzph8YWsi7DZacmSJUcExJIlS3KrxczyVTcsIuK+RhRis8/nP/95rr766iPaZtaapnM11L9Keja9XpB0SNKzjSjO8rV06VIWLy7PaLt48WKf3DZrYdO5z+L1EfGGiHgDcBLw74GvTXcDktol/UzSP6f2mZIekFSU9E1JJ6T+E1O7mNYvqfqMz6X+X0i6+Fi/SXv1urq6AHjTm96UcyVmlqdjeupslH0POJZf2J8CHqtqfxW4ISKWAgeBq1L/VcDB1H9DGoeks4ArgLOBXuBrktqPpW57dUqlEg899BAA27Zto1Qq5VyRmeVlOoeh/rzq9WFJXwFemM6HS1oEfBC4JbUFvB/4dhrSD1yellelNmn9RWn8KuDOiHgxIn5FeY7u5dPZvh2fo+exWL/eT30xa1XTuRrq0qrlcWCE8i/w6fgb4L8Dr0/tTuDpiBhP7T28/ATbhcATABExLumZNH4hcH/VZ1a/xzJ0331HXtuwdevWfAoxs9xN52qoj72aD5b0IWB/RGyT9Gev5jOOcXt9QB/AGWeckfXmzMxaynQOQy2SdJek/en1nXR4qZ53AZdJGgHupHz46UZgnqRKSC0CRtPyKLA4bbMDeCNQqu6f5D2HRcSGiOiOiO7KSVk7PqeccsqUbTNrHdM5wf11YIDyvBZvAb6f+qYUEZ+LiEURsYTyCeofRsR/AH4EfDgNKwB3p+WB1Cat/2F6HtUAcEW6WupMYBnw02nUbcdpfHx8yraZtY7phEVXRHw9IsbT63bgeP50/yzwGUlFyuckbk39twKdqf8zwHUAEbET2AQ8CgwC10TEoePYvk3T6aefPmXbzFrHdE5wlyT9R+CO1L6S8uGhaYuIrcDWtPw4k1zNFBEvAH9R4/1fBr58LNu047dv374p22bWOqazZ/GfgI8ATwJ7KR8ielUnva25rFix4oj2ypUrc6rEzPI2nTu4d0fEZRHRFRFviojLI+LXjSjO8nXZZUc+WPjSSy+tMdLM5rrpXA11pqS/lvRdSQOVVyOKs3xt2rTpiPa3vvWtnCoxs7xN5zDU9yjfiLce+N9VL5vjtmzZckR78+bNOVViZnmbzgnuFyJiXf1hNtdMTExM2Taz1jGdsLhR0lrgBxw5U95DmVVls0JbWxuHDh06om1mrWk6YXEO8FHKd2BX/rSM1LY57MILLzzi+VDvfve7c6zGzPI0nbD4C+API+KlrIux2aX80F8zs+md4H4EmJdxHTYL/eQnP5mybWatYzp7FvOAn0t6kJfPWURETPcx5dakqs9XTNY2s9YxnbBYW7Us4N2UHwxoc1x7e/sRAdHe7gkKzVrVdO7gvg94FvgQcDvlE9t/n21ZNhv09PRM2Taz1lEzLCS9VdJaST+nfEPerwFFxPsiwvNrtoC+vr7DJ7kl0dfXl3NFZpaXqfYsfk55L+JDEXFhCggftG4hnZ2dhx8euHLlSjo7O3OuyMzyMtU5iz+nfG7iR5IGKc9252spW0xfXx979+71XoVZi1N5MropBkinAKsoz2PxfmAjcFdE/CD78l6d7u7uGB4ezrsMM7OmImlbRHRPtm46J7ifi4hvRMSllOe//hnl2e7qbfS1kn4q6V8k7ZT0P1P/mZIekFSU9E1JJ6T+E1O7mNYvqfqsz6X+X0i6eHrftpmZzZRjethPRByMiA0RcdE0hr8IvD8i3gGcC/RKugD4KnBDRCwFDgJXpfFXAQdT/w1pHJLOonw47GygF/iaJF/DaWbWQJk9GS7Kfpuar0mvyjOlvp36+4HL0/Kq1Catv0jlS3FWAXdGxIsR8SugyCTTslo2SqUSa9asoVQ6ppl0zWyOyfQxopLaJT0M7AeGgF8CT0fEeBqyB1iYlhcCTwCk9c8AndX9k7zHMnbzzTezfft2NmzYkHcpZpajTMMiIg5FxLmUz3UsB/4oq21J6pM0LGl4bGwsq820lFKpdHjCo6GhIe9dmLWwhkxQEBFPAz8C/gSYJ6lyye4iYDQtjwKLAdL6NwKl6v5J3lO9jQ0R0R0R3V1dXVl8Gy3n5ptvPjzh0cTEhPcuzFpYZmEhqUvSvLR8ErACeIxyaHw4DSsAd6flgdQmrf9hlK/rHQCuSFdLnQksA36aVd32Mk+ramYV03mQ4Kt1OtCfrlxqAzZFxD9LehS4U9L1lC/DvTWNvxX4R0lF4ADpYYURsVPSJuBRYBy4JiJ8J3kDHD2fhee3MGtdmYVFRGwH3jlJ/+NMcjVTRLxAeaKlyT7ry8CXZ7pGm9pZZ53F9u3bD7fPPvvsHKsxszx5UmWraefOnUe0H3nkkZwqMbO8OSysJk9+ZGYVDgszM6vLYWFmZnU5LKymBQsWTNk2s9bhsLCannrqqSnbZtY6HBZWk09wm1mFw8LMzOpyWJiZWV0OC6upvb19yraZtQ6HhdW0fPnyKdtm1jocFlbTyMjIEe3du3fnU4iZ5c5hYTXt3bv3iPZvfvObnCoxs7w5LMzMrC6HhdXU1tY2ZdvMWof/77eajn68x5vf/OacKjGzvDksrKb9+/cf0d63b19OlZhZ3rKcg3uxpB9JelTSTkmfSv2nShqStCt9nZ/6JWmdpKKk7ZLOq/qsQhq/S1Kh1jZtZvlxH2ZWkeWexTjwXyPiLOAC4BpJZwHXAVsiYhmwJbUBLgGWpVcfcBOUwwVYC5xPeTrWtZWAMTOzxsgsLCJib0Q8lJb/FXgMWAisAvrTsH7g8rS8CtgYZfcD8ySdDlwMDEXEgYg4CAwBvVnVbWZmr9SQcxaSlgDvBB4AFkRE5QL+J4HKWdSFwBNVb9uT+mr1H72NPknDkobHxsZm9hswM2txmYeFpNcB3wE+HRHPVq+LiABiJrYTERsiojsiuru6umbiI81sFiuVSqxZs4ZSqZR3KS0h07CQ9BrKQfFPEfHd1L0vHV4ifa1ccjMKLK56+6LUV6vfzFpYf38/O3bsYOPGjXmX0hKyvBpKwK3AYxHx11WrBoDKFU0F4O6q/tXpqqgLgGfS4ap7gZWS5qcT2ytTn5m1qFKpxODgIBHB4OCg9y4aIMs9i3cBHwXeL+nh9PoA8BVghaRdQE9qA9wDPA4UgX8A/gtARBwAvgQ8mF5fTH1m1qL6+/uZmJgAypd0e+8iex1ZfXBE/F9ANVZfNMn4AK6p8Vm3AbfNXHVm1sw2b97M+Pg4AOPj4wwNDXHttdfmXNXc5ju4zazp9PT00NFR/lu3o6ODFStW5FzR3OewMLOmUygUDj/Ysr29ndWrV+dc0dznsDCzptPZ2Ulvby+S6O3tpbOzM++S5rzMzlmYmWWpUCgwMjLivYoGcViYWVPq7Oxk3bp1eZfRMnwYyszM6nJYmJlZXQ4LMzOry2FhZmZ1OSzMrCn5qbON5bAws6bkp842lsPCzJqOnzrbeA4LM2s6fups4zkszKzpTPbUWcuWw8LMmo6fOtt4Dgszazp+6mzjZTmt6m2S9kt6pKrvVElDknalr/NTvyStk1SUtF3SeVXvKaTxuyQVJtuWmbUWP3W28bLcs7gd6D2q7zpgS0QsA7akNsAlwLL06gNugnK4AGuB84HlwNpKwJhZaysUCpxzzjneq2iQzMIiIn4MHD1X9iqgPy33A5dX9W+MsvuBeZJOBy4GhiLiQEQcBIZ4ZQCZWQuqPHXWexWN0ehzFgsiYm9afhJYkJYXAk9UjduT+mr1v4KkPknDkobHxsZmtmozsxaX2wnuiAggZvDzNkREd0R0d3V1zdTHmpkZjQ+LfenwEunr/tQ/CiyuGrco9dXqN7MW52dDNVajw2IAqFzRVADurupfna6KugB4Jh2uuhdYKWl+OrG9MvWZWYtbt24d27dvZ/369XmX0hIym1ZV0h3AnwGnSdpD+aqmrwCbJF0F7AY+kobfA3wAKALPAx8DiIgDkr4EPJjGfTEijj5pbmYtplQqcd999wGwdetWSqWST3RnLLOwiIgra6y6aJKxAVxT43NuA26bwdLMrMkdPff2+vXr+cIXvpBPMS3Cd3CbWdOp7FVUbN26NZ9CWojDwszM6nJYmFnTWbx48ZRtm3kOCzNrOmvXrp2ybTPPYWFmTWf+/PlTtm3mOSzMrOn09/cffkR5W1ubZ8prAIeFmTWdzZs3H55WdWJiwjPlNYDDwsyajmfKazyHhZk1Hc+U13gOCzNrOp4pr/Eye9yHmVmWCoUCIyMj3qtoEIeFmTWlykx51hgOCzM7ZuvXr6dYLOZaw+hoeWqbhQsnnTyzoZYuXconP/nJvMvIlMPCzJrS7373u7xLaCkOi1lsNvz1drRPfepTuW27Ff56axaz4b9D5WfxxhtvzLmS1uCwMGsis/EPiLxU/h3y/ANmNsn6j6mmCQtJvcCNQDtwS0R8Jatt+X/I2alYLOb+iyHvvZtisciunT/jjNcdyq2G2eKE35ev/H9x93DOleTv179tz3wbTREWktqBvwNWAHuAByUNRMSjWWzvvvvuY+ypErQ3xT9P5gREWn74kUz+yZvDoXFGR0dzPwRzxusO8T/OezbXGmx2+V8PvSHzbTTLb8PlQDEiHgeQdCewCpjbv7kmDkFE/XGZKcdEVLcPjedYjqAt+7+gZrPR0VEOPN3Bx+/L9ymrv58QE3n+aM4ybYLXtOX3D/LiIXFqx2im22iWsFgIPFHV3gOcXz1AUh/QB3DGGWcc18be+973zorDUKOjo7lf8fHcc88dXj7llJNzrAROOumk3C+TXLp0aa7bnzdvXu4/EwC8+CKkB/kZ0NZG24kn5rb5kyj/bGRJketfrtMj6cNAb0RcndofBc6PiE9MNr67uzuGh30c08zsWEjaFhHdk61rlmdDjQLV8yYuSn1mZtYAzRIWDwLLJJ0p6QTgCmAg55rMzFpGU5yziIhxSZ8A7qV86extEbEz57LMzFpGU4QFQETcA9yTdx1mZq2oWQ5DmZlZjhwWZmZWl8PCzMzqcliYmVldTXFT3rGSNAbszruOOeQ04Km8izCbhH82Z9YfRETXZCvmZFjYzJI0XOuuTrM8+WezcXwYyszM6nJYmJlZXQ4Lm44NeRdgVoN/NhvE5yzMzKwu71mYmVldDgszM6vLYWFTktQr6ReSipKuy7seMwBJt0naL+mRvGtpFQ4Lq0lSO/B3wCXAWcCVks7KtyozAG4HevMuopU4LGwqy4FiRDweES8BdwKrcq7JjIj4MXAg7zpaicPCprIQeKKqvSf1mVmLcViYmVldDgubyiiwuKq9KPWZWYtxWNhUHgSWSTpT0gnAFcBAzjWZWQ4cFlZTRIwDnwDuBR4DNkXEznyrMgNJdwD/D3ibpD2Srsq7prnOj/swM7O6vGdhZmZ1OSzMzKwuh4WZmdXlsDAzs7ocFmZmVpfDwuw4SXqzpDsl/VLSNkn3SHqrn4hqc0lH3gWYNTNJAu4C+iPiitT3DmBBroWZzTDvWZgdn/cBv4+Iv690RMS/UPUARklLJP1E0kPp9aep/3RJP5b0sKRHJL1bUruk21N7h6RrG/8tmb2S9yzMjs/bgW11xuwHVkTEC5KWAXcA3cBfAvdGxJfT3CEnA+cCCyPi7QCS5mVVuNmxcFiYZe81wN9KOhc4BLw19T8I3CbpNcD3IuJhSY8DfyhpPfB/gB/kUbDZ0XwYyuz47AT+uM6Ya4F9wDso71GcAIcn8HkP5Sf53i5pdUQcTOO2Av8ZuCWbss2OjcPC7Pj8EDhRUl+lQ9K/4chHu78R2BsRE8BHgfY07g+AfRHxD5RD4TxJpwFtEfEd4PPAeY35Nsym5sNQZschIkLSvwP+RtJngReAEeDTVcO+BnxH0mpgEHgu9f8Z8N8k/R74LbCa8kyEX5dU+UPuc1l/D2bT4afOmplZXT4MZWZmdTkszMysLoeFmZnV5bAwM7O6HBZmZlaXw8LMzOpyWJiZWV3/H0/OZIn93h0f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969" y="1962667"/>
            <a:ext cx="3118113" cy="2068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290" y="1962666"/>
            <a:ext cx="3008315" cy="2068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27924" y="4030883"/>
            <a:ext cx="1111420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Here, each column is compared with the target variable using a box plot.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 above images, there were three types of boxplots obtained.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type of boxplot shows a high interquantile range(IQR or variability) with the medians not overlapping each other like in Time vs. Class.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other boxplot we can see the variance is very minimal i.e. low IQR with the medians overlapping each other like in Amount vs. Class.</a:t>
            </a:r>
          </a:p>
        </p:txBody>
      </p:sp>
    </p:spTree>
    <p:extLst>
      <p:ext uri="{BB962C8B-B14F-4D97-AF65-F5344CB8AC3E}">
        <p14:creationId xmlns:p14="http://schemas.microsoft.com/office/powerpoint/2010/main" val="901042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3D66-3571-4F7C-8166-A42A7F03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multivariate  analysis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A5F8E6-9C83-4A15-8D54-3621787521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629" y="2194055"/>
            <a:ext cx="5011225" cy="385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90172" y="2194055"/>
            <a:ext cx="4441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heat map consists of values of very low correlation, because of the PCA done at the vey beginning reduces the multicollinearity greatly.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60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BC99-FDAB-4FBC-B4F5-718966D1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the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EF34D-7471-4061-8323-10E42196A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a step of Data Pre Processing which is applied to independent variables or features of data. 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basically helping to normalize the data within a particular range.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study we scaled the data by using the Standard scaler function.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Time and Amount need to be scaled as others have already undergone PCA.</a:t>
            </a:r>
            <a:endParaRPr lang="en-IN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73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68B3-4996-4796-AF9D-68B7D827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64C1D-0512-4986-9436-A3735110B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345061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using the logistic regression, we got the significant variables by comparing with the p-values in the resultant. V1, V4, V5, V8, V9, V10, V20, V21, V22, V27, V28, Amount.</a:t>
            </a:r>
            <a:endParaRPr lang="en-IN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91EF05-B813-4DB3-83AD-D06BFFA4F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425" y="2736872"/>
            <a:ext cx="3343422" cy="3115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8E9169-BE94-4CEE-83C7-25CEC1520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030" y="2736870"/>
            <a:ext cx="3343421" cy="31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66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3604-9901-41EE-9E92-ED0A9534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or recall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DC75-48BB-48FD-AA43-626A6639F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handle the high precision or recall, we selected a threshold value by the ROC-Curve and the F1_score.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Then by applying the threshold value, we made a classification report for the model.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we also tried using Youden’s index.</a:t>
            </a:r>
            <a:endParaRPr lang="en-IN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FB33A-E335-4A40-8CFF-946ED3F16D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0" t="24958" r="12088"/>
          <a:stretch/>
        </p:blipFill>
        <p:spPr>
          <a:xfrm>
            <a:off x="6370313" y="3741038"/>
            <a:ext cx="4684541" cy="232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3B4C2-3447-4444-9C01-366D783E4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3741038"/>
            <a:ext cx="4370109" cy="232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1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3604-9901-41EE-9E92-ED0A9534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 - Precision or recall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DC75-48BB-48FD-AA43-626A6639F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business case scenario Recall is the performance metric required 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we want to reduce the Type 2 error value(False negatives). 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handle the precision or recall value, we selected a threshold value by the ROC-Curve and the Youden’s index.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default threshold value (0.5) has a chance of increasing the Type 2 error ,so we opt for a better threshold.</a:t>
            </a:r>
          </a:p>
        </p:txBody>
      </p:sp>
    </p:spTree>
    <p:extLst>
      <p:ext uri="{BB962C8B-B14F-4D97-AF65-F5344CB8AC3E}">
        <p14:creationId xmlns:p14="http://schemas.microsoft.com/office/powerpoint/2010/main" val="722705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9EA3-F020-41F8-878C-98CB3B4C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B4F8A-0DE0-4388-9BD5-532DDEA56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869" y="1987597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LOGISTIC REGRESSION MODEL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CE60CA-57F2-4B72-9547-D58CA7B79B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9" t="14690" r="11797" b="26834"/>
          <a:stretch/>
        </p:blipFill>
        <p:spPr>
          <a:xfrm>
            <a:off x="1365869" y="2461847"/>
            <a:ext cx="9460261" cy="275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00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5647-C225-4731-8E5F-17119F99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45B24-5847-4401-8B0D-0F6285CE1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KNN MODEL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B9481-241C-4BF2-96B5-4E4B5A0E8B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5" t="44068" r="11907"/>
          <a:stretch/>
        </p:blipFill>
        <p:spPr>
          <a:xfrm>
            <a:off x="1608795" y="2478274"/>
            <a:ext cx="9288842" cy="315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68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5F8A-C7A3-48A6-BBD4-06DBD20C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638E-5810-44A5-BB51-9CD5061E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NAÏVE BAYES MODEL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8301B-EEE4-40CD-A47C-E68317D002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6" t="44783" r="13000"/>
          <a:stretch/>
        </p:blipFill>
        <p:spPr>
          <a:xfrm>
            <a:off x="1675485" y="2464839"/>
            <a:ext cx="9155461" cy="308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09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DE17-D7AF-466A-B9ED-51B9FB31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DE93-AC66-4638-A437-B27F4F168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Further additions to the model:</a:t>
            </a:r>
          </a:p>
          <a:p>
            <a:pPr marL="0" indent="0">
              <a:buNone/>
            </a:pPr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1.Building the Model after Feature Selection: (Backward elimination,RFE,Forward   	Selection).</a:t>
            </a:r>
          </a:p>
          <a:p>
            <a:pPr marL="0" indent="0">
              <a:buNone/>
            </a:pPr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2.Building the Model with other algorithms(Boosting , Bagging  algorithms)</a:t>
            </a:r>
          </a:p>
          <a:p>
            <a:pPr marL="0" indent="0">
              <a:buNone/>
            </a:pPr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to check for overfitting.</a:t>
            </a:r>
          </a:p>
          <a:p>
            <a:pPr marL="0" indent="0">
              <a:buNone/>
            </a:pPr>
            <a:r>
              <a:rPr lang="en-IN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3.Deployment of the model.</a:t>
            </a:r>
          </a:p>
        </p:txBody>
      </p:sp>
    </p:spTree>
    <p:extLst>
      <p:ext uri="{BB962C8B-B14F-4D97-AF65-F5344CB8AC3E}">
        <p14:creationId xmlns:p14="http://schemas.microsoft.com/office/powerpoint/2010/main" val="27531841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1751</TotalTime>
  <Words>1220</Words>
  <Application>Microsoft Office PowerPoint</Application>
  <PresentationFormat>Widescreen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Gill Sans MT</vt:lpstr>
      <vt:lpstr>Tahoma</vt:lpstr>
      <vt:lpstr>Times New Roman</vt:lpstr>
      <vt:lpstr>Gallery</vt:lpstr>
      <vt:lpstr>CREDIT CARD FRAUD DETECTION</vt:lpstr>
      <vt:lpstr>Business understanding</vt:lpstr>
      <vt:lpstr>problem statement</vt:lpstr>
      <vt:lpstr>Data understanding</vt:lpstr>
      <vt:lpstr>Why pca ?</vt:lpstr>
      <vt:lpstr>Steps for further process</vt:lpstr>
      <vt:lpstr>Data preparation</vt:lpstr>
      <vt:lpstr>Data imbalance process</vt:lpstr>
      <vt:lpstr>EDA – Univariate  analysis</vt:lpstr>
      <vt:lpstr>Eda – univariate  analysis </vt:lpstr>
      <vt:lpstr>Eda – univariate  analysis</vt:lpstr>
      <vt:lpstr>Eda – univariate  analysis</vt:lpstr>
      <vt:lpstr>Eda – bivariate  analysis</vt:lpstr>
      <vt:lpstr>Eda – bivariate  analysis</vt:lpstr>
      <vt:lpstr>Eda – multivariate  analysis</vt:lpstr>
      <vt:lpstr>Scaling the data</vt:lpstr>
      <vt:lpstr>Significant variables</vt:lpstr>
      <vt:lpstr>Precision or recall</vt:lpstr>
      <vt:lpstr>EVALUATION Metric - Precision or recall</vt:lpstr>
      <vt:lpstr>Model building</vt:lpstr>
      <vt:lpstr>MODEL BUILDING</vt:lpstr>
      <vt:lpstr>MODEL BUILDING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Dhanesh Kanakaraj</dc:creator>
  <cp:lastModifiedBy>Dhanesh Kanakaraj</cp:lastModifiedBy>
  <cp:revision>66</cp:revision>
  <dcterms:created xsi:type="dcterms:W3CDTF">2021-09-15T17:26:34Z</dcterms:created>
  <dcterms:modified xsi:type="dcterms:W3CDTF">2021-09-19T09:33:09Z</dcterms:modified>
</cp:coreProperties>
</file>